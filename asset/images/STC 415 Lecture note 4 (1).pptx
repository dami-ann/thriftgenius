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58" r:id="rId3"/>
    <p:sldId id="259" r:id="rId4"/>
    <p:sldId id="261" r:id="rId5"/>
    <p:sldId id="262" r:id="rId6"/>
    <p:sldId id="263" r:id="rId7"/>
    <p:sldId id="264" r:id="rId8"/>
    <p:sldId id="265" r:id="rId9"/>
    <p:sldId id="266"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D1D3-5E7D-BEA8-FA0A-C3F8DBBBE3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C58CAF-4792-37EC-5C7A-F4DED43DAA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6F76A9-D3E8-7DD6-914B-ADEFB3CB92DB}"/>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5" name="Footer Placeholder 4">
            <a:extLst>
              <a:ext uri="{FF2B5EF4-FFF2-40B4-BE49-F238E27FC236}">
                <a16:creationId xmlns:a16="http://schemas.microsoft.com/office/drawing/2014/main" id="{1F7C4B83-3370-C6D8-0DCB-734EA9158A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B37FBD-B84F-06AD-75C5-4A8E22AD29A2}"/>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1621529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6C1C9-362F-6056-6B1E-23FD58E9D3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FBF2A5-956D-C4E5-5855-2A35AB6983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730483-7766-71D0-D285-14D4552BA895}"/>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5" name="Footer Placeholder 4">
            <a:extLst>
              <a:ext uri="{FF2B5EF4-FFF2-40B4-BE49-F238E27FC236}">
                <a16:creationId xmlns:a16="http://schemas.microsoft.com/office/drawing/2014/main" id="{217A6753-DF82-8E1C-FC1F-07D13A1504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13C68F-7A1E-C7C6-0A11-8A5545F1091A}"/>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1875170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EF929-C906-AD82-5EA7-04B008F8AB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A3702F-5629-3614-81F9-B2D9868597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C60E32-6E6C-40F0-9C22-D2D95BC95AF4}"/>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5" name="Footer Placeholder 4">
            <a:extLst>
              <a:ext uri="{FF2B5EF4-FFF2-40B4-BE49-F238E27FC236}">
                <a16:creationId xmlns:a16="http://schemas.microsoft.com/office/drawing/2014/main" id="{20A2DF83-677D-B5EB-1C8C-7C8993EE02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A95716-BDE4-5285-D595-C43C3048D7A3}"/>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2071887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AFCC6-1B6C-002E-CC94-3CA5E1168D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45F3A5-65CD-631B-DCFD-DB2B996F9A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31F7E4-5828-8188-66B6-F357011743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70FA6D-830F-55C4-94DB-D1C93CEAD2E9}"/>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6" name="Footer Placeholder 5">
            <a:extLst>
              <a:ext uri="{FF2B5EF4-FFF2-40B4-BE49-F238E27FC236}">
                <a16:creationId xmlns:a16="http://schemas.microsoft.com/office/drawing/2014/main" id="{86A9D136-E9B0-5869-4784-0999B6738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105FFA-CEDA-B914-E34B-41D1BAFE9A19}"/>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4173120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1F6CC-2DEC-2C6E-04CE-C2A1CBBC88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C16C07-0AAA-7299-2A12-EC87721E56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45FE19-CC73-7133-E839-E8F3E0A6DD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BC4C7B-F891-11EC-A18E-14CBD82115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2013ED-F3A6-A637-BC33-4A11AE5FBC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B2BFFC-E5DC-5DEE-32A2-D5DD100B9F36}"/>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8" name="Footer Placeholder 7">
            <a:extLst>
              <a:ext uri="{FF2B5EF4-FFF2-40B4-BE49-F238E27FC236}">
                <a16:creationId xmlns:a16="http://schemas.microsoft.com/office/drawing/2014/main" id="{E022272E-8897-A4C1-C1B3-957F475933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6C5F94-D7CF-D609-10AC-C86F19492AC8}"/>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61028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F45A4-4F20-669D-5E88-B61D6AEF6A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78DBA9-098C-AB41-1749-3E26B706EAD6}"/>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4" name="Footer Placeholder 3">
            <a:extLst>
              <a:ext uri="{FF2B5EF4-FFF2-40B4-BE49-F238E27FC236}">
                <a16:creationId xmlns:a16="http://schemas.microsoft.com/office/drawing/2014/main" id="{E873CBBF-DFED-0C50-4368-584868AA5E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9C66CA-C141-B584-95B1-45061AFA2CE4}"/>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664170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305001-2AD4-8ED3-7904-88DF3C72FBCC}"/>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3" name="Footer Placeholder 2">
            <a:extLst>
              <a:ext uri="{FF2B5EF4-FFF2-40B4-BE49-F238E27FC236}">
                <a16:creationId xmlns:a16="http://schemas.microsoft.com/office/drawing/2014/main" id="{2C338778-3FFE-8BFC-ED07-9E658565FB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A847E5-A810-1595-8258-0141ABCEBD86}"/>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1350005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D039C-335D-2504-CBAA-733C604079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370D1A-0D11-47ED-A281-C45025D171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AA0E10-93D3-C9B8-25D0-C7B87E0840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4F2FDC-6283-087C-E93B-39F9E189B06E}"/>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6" name="Footer Placeholder 5">
            <a:extLst>
              <a:ext uri="{FF2B5EF4-FFF2-40B4-BE49-F238E27FC236}">
                <a16:creationId xmlns:a16="http://schemas.microsoft.com/office/drawing/2014/main" id="{CE0B3B35-27C5-2E6F-39F4-2E1A1B68C6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43B0C8-2152-30C3-951C-F0A2D9BF6AED}"/>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3268907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E8BF3-8424-73FD-EA1C-DE2B39C03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B7B500-FD25-D175-2F8C-B324168BFE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9531B4-90F5-5E83-5EDC-2E9DCD792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7A2992-2928-8125-A7C2-99ACA8D6574E}"/>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6" name="Footer Placeholder 5">
            <a:extLst>
              <a:ext uri="{FF2B5EF4-FFF2-40B4-BE49-F238E27FC236}">
                <a16:creationId xmlns:a16="http://schemas.microsoft.com/office/drawing/2014/main" id="{E1364374-41C0-9C99-E41B-ED7794D319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B3CA40-DC50-3E95-FE2C-075869F8C123}"/>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118140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9F219-97D4-9386-4017-BFFB9725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D1CBE3-78F1-0A83-5BB1-00FAB9A18A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26EF06-DEA3-AE58-60AB-DB4614C887D8}"/>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5" name="Footer Placeholder 4">
            <a:extLst>
              <a:ext uri="{FF2B5EF4-FFF2-40B4-BE49-F238E27FC236}">
                <a16:creationId xmlns:a16="http://schemas.microsoft.com/office/drawing/2014/main" id="{A3CC5C82-7D8D-1BAE-0A4A-B5B102DA16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06CFD-7FED-7E2F-270E-FA03790E080F}"/>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4186091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C47839-856A-3548-24B3-32F10757C9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C25C49-E4C6-7090-1384-8C051C2A92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9C1B40-E83F-D309-E5A0-70623DD11834}"/>
              </a:ext>
            </a:extLst>
          </p:cNvPr>
          <p:cNvSpPr>
            <a:spLocks noGrp="1"/>
          </p:cNvSpPr>
          <p:nvPr>
            <p:ph type="dt" sz="half" idx="10"/>
          </p:nvPr>
        </p:nvSpPr>
        <p:spPr/>
        <p:txBody>
          <a:bodyPr/>
          <a:lstStyle/>
          <a:p>
            <a:fld id="{E0F7F292-3B9D-4F95-A4F4-2BBBB729FCA9}" type="datetimeFigureOut">
              <a:rPr lang="en-US" smtClean="0"/>
              <a:t>4/25/2026</a:t>
            </a:fld>
            <a:endParaRPr lang="en-US"/>
          </a:p>
        </p:txBody>
      </p:sp>
      <p:sp>
        <p:nvSpPr>
          <p:cNvPr id="5" name="Footer Placeholder 4">
            <a:extLst>
              <a:ext uri="{FF2B5EF4-FFF2-40B4-BE49-F238E27FC236}">
                <a16:creationId xmlns:a16="http://schemas.microsoft.com/office/drawing/2014/main" id="{1E1C742D-AD20-5C51-D89D-79B1D6C5D4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6C5D70-DD1B-A4C9-EB0D-DFABBFAFC791}"/>
              </a:ext>
            </a:extLst>
          </p:cNvPr>
          <p:cNvSpPr>
            <a:spLocks noGrp="1"/>
          </p:cNvSpPr>
          <p:nvPr>
            <p:ph type="sldNum" sz="quarter" idx="12"/>
          </p:nvPr>
        </p:nvSpPr>
        <p:spPr/>
        <p:txBody>
          <a:bodyPr/>
          <a:lstStyle/>
          <a:p>
            <a:fld id="{34C3914C-FD99-4DF8-9665-F5968F46950C}" type="slidenum">
              <a:rPr lang="en-US" smtClean="0"/>
              <a:t>‹#›</a:t>
            </a:fld>
            <a:endParaRPr lang="en-US"/>
          </a:p>
        </p:txBody>
      </p:sp>
    </p:spTree>
    <p:extLst>
      <p:ext uri="{BB962C8B-B14F-4D97-AF65-F5344CB8AC3E}">
        <p14:creationId xmlns:p14="http://schemas.microsoft.com/office/powerpoint/2010/main" val="2377903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68703A-A483-C1FD-6446-129CD9BABA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4DD208-4A9C-0F16-EE29-162887BF34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3EE581-FF0A-5F94-1F57-7B5DFE4DFF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F7F292-3B9D-4F95-A4F4-2BBBB729FCA9}" type="datetimeFigureOut">
              <a:rPr lang="en-US" smtClean="0"/>
              <a:t>4/25/2026</a:t>
            </a:fld>
            <a:endParaRPr lang="en-US"/>
          </a:p>
        </p:txBody>
      </p:sp>
      <p:sp>
        <p:nvSpPr>
          <p:cNvPr id="5" name="Footer Placeholder 4">
            <a:extLst>
              <a:ext uri="{FF2B5EF4-FFF2-40B4-BE49-F238E27FC236}">
                <a16:creationId xmlns:a16="http://schemas.microsoft.com/office/drawing/2014/main" id="{4456898D-2C3C-D564-C407-6F4CF98BA6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2370F09-33D6-B85B-9E36-1C7B76FCF6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3914C-FD99-4DF8-9665-F5968F46950C}" type="slidenum">
              <a:rPr lang="en-US" smtClean="0"/>
              <a:t>‹#›</a:t>
            </a:fld>
            <a:endParaRPr lang="en-US"/>
          </a:p>
        </p:txBody>
      </p:sp>
    </p:spTree>
    <p:extLst>
      <p:ext uri="{BB962C8B-B14F-4D97-AF65-F5344CB8AC3E}">
        <p14:creationId xmlns:p14="http://schemas.microsoft.com/office/powerpoint/2010/main" val="2371993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1CFD8-F3C4-1183-ECE6-D0F64EAEDCB9}"/>
              </a:ext>
            </a:extLst>
          </p:cNvPr>
          <p:cNvSpPr>
            <a:spLocks noGrp="1"/>
          </p:cNvSpPr>
          <p:nvPr>
            <p:ph type="title"/>
          </p:nvPr>
        </p:nvSpPr>
        <p:spPr>
          <a:xfrm>
            <a:off x="838200" y="0"/>
            <a:ext cx="10515600" cy="1325563"/>
          </a:xfrm>
        </p:spPr>
        <p:txBody>
          <a:bodyPr>
            <a:normAutofit/>
          </a:bodyPr>
          <a:lstStyle/>
          <a:p>
            <a:pPr algn="ctr"/>
            <a:r>
              <a:rPr lang="en-US" sz="3200" b="1" dirty="0">
                <a:effectLst>
                  <a:outerShdw blurRad="38100" dist="38100" dir="2700000" algn="tl">
                    <a:srgbClr val="000000">
                      <a:alpha val="43137"/>
                    </a:srgbClr>
                  </a:outerShdw>
                </a:effectLst>
                <a:latin typeface="Palatino Linotype" panose="02040502050505030304" pitchFamily="18" charset="0"/>
              </a:rPr>
              <a:t>Extraction and uses of non-hydrocarbon intermediates</a:t>
            </a:r>
          </a:p>
        </p:txBody>
      </p:sp>
      <p:sp>
        <p:nvSpPr>
          <p:cNvPr id="3" name="Content Placeholder 2">
            <a:extLst>
              <a:ext uri="{FF2B5EF4-FFF2-40B4-BE49-F238E27FC236}">
                <a16:creationId xmlns:a16="http://schemas.microsoft.com/office/drawing/2014/main" id="{1C380B91-ED28-6E03-32C3-7CDD28E74E2E}"/>
              </a:ext>
            </a:extLst>
          </p:cNvPr>
          <p:cNvSpPr>
            <a:spLocks noGrp="1"/>
          </p:cNvSpPr>
          <p:nvPr>
            <p:ph idx="1"/>
          </p:nvPr>
        </p:nvSpPr>
        <p:spPr>
          <a:xfrm>
            <a:off x="0" y="811161"/>
            <a:ext cx="12192000" cy="6046839"/>
          </a:xfrm>
        </p:spPr>
        <p:txBody>
          <a:bodyPr>
            <a:noAutofit/>
          </a:bodyPr>
          <a:lstStyle/>
          <a:p>
            <a:pPr marL="0" indent="0">
              <a:lnSpc>
                <a:spcPct val="160000"/>
              </a:lnSpc>
              <a:buNone/>
            </a:pPr>
            <a:r>
              <a:rPr lang="en-US" sz="1600" dirty="0">
                <a:latin typeface="Palatino Linotype" panose="02040502050505030304" pitchFamily="18" charset="0"/>
              </a:rPr>
              <a:t>From natural gas, crude oils, and other fossil materials such as coal, few intermediates are produced that are not hydrocarbon compounds. The important intermediates that will be discussed here are hydrogen, sulfur, carbon black, and synthesis gas (H2 and CO).</a:t>
            </a:r>
          </a:p>
          <a:p>
            <a:pPr marL="0" indent="0">
              <a:lnSpc>
                <a:spcPct val="160000"/>
              </a:lnSpc>
              <a:buNone/>
            </a:pPr>
            <a:r>
              <a:rPr lang="en-US" sz="1600" b="1" dirty="0">
                <a:latin typeface="Palatino Linotype" panose="02040502050505030304" pitchFamily="18" charset="0"/>
              </a:rPr>
              <a:t>Hydrogen</a:t>
            </a:r>
            <a:r>
              <a:rPr lang="en-US" sz="1600" dirty="0">
                <a:latin typeface="Palatino Linotype" panose="02040502050505030304" pitchFamily="18" charset="0"/>
              </a:rPr>
              <a:t> is the lightest known element. Although only found in the free state in trace amounts, it is the most abundant element in the </a:t>
            </a:r>
            <a:r>
              <a:rPr lang="en-US" sz="1600" dirty="0" err="1">
                <a:latin typeface="Palatino Linotype" panose="02040502050505030304" pitchFamily="18" charset="0"/>
              </a:rPr>
              <a:t>uni</a:t>
            </a:r>
            <a:r>
              <a:rPr lang="en-US" sz="1600" dirty="0">
                <a:latin typeface="Palatino Linotype" panose="02040502050505030304" pitchFamily="18" charset="0"/>
              </a:rPr>
              <a:t> verse and is present in a combined form with other elements. Water, </a:t>
            </a:r>
            <a:r>
              <a:rPr lang="en-US" sz="1600" dirty="0" err="1">
                <a:latin typeface="Palatino Linotype" panose="02040502050505030304" pitchFamily="18" charset="0"/>
              </a:rPr>
              <a:t>nat</a:t>
            </a:r>
            <a:r>
              <a:rPr lang="en-US" sz="1600" dirty="0">
                <a:latin typeface="Palatino Linotype" panose="02040502050505030304" pitchFamily="18" charset="0"/>
              </a:rPr>
              <a:t> </a:t>
            </a:r>
            <a:r>
              <a:rPr lang="en-US" sz="1600" dirty="0" err="1">
                <a:latin typeface="Palatino Linotype" panose="02040502050505030304" pitchFamily="18" charset="0"/>
              </a:rPr>
              <a:t>ural</a:t>
            </a:r>
            <a:r>
              <a:rPr lang="en-US" sz="1600" dirty="0">
                <a:latin typeface="Palatino Linotype" panose="02040502050505030304" pitchFamily="18" charset="0"/>
              </a:rPr>
              <a:t> gas, crude oils, hydrocarbons, and other organic fossil materials are major sources of hydrogen. Obtaining hydrogen from its compounds is an energy extensive process. To decompose water into hydrogen and oxygen, an energy input equal to an enthalpy change of +286 KJ/mol is required.	</a:t>
            </a:r>
            <a:r>
              <a:rPr lang="pt-BR" sz="1600" dirty="0">
                <a:latin typeface="Palatino Linotype" panose="02040502050505030304" pitchFamily="18" charset="0"/>
              </a:rPr>
              <a:t>H2O	 H2 + 1/2O2 ∆H = +286 KJ/mol</a:t>
            </a:r>
          </a:p>
          <a:p>
            <a:pPr marL="0" indent="0">
              <a:lnSpc>
                <a:spcPct val="160000"/>
              </a:lnSpc>
              <a:buNone/>
            </a:pPr>
            <a:r>
              <a:rPr lang="en-US" sz="1600" dirty="0">
                <a:latin typeface="Palatino Linotype" panose="02040502050505030304" pitchFamily="18" charset="0"/>
              </a:rPr>
              <a:t>The most economical way to produce hydrogen is by steam reforming petroleum fractions and natural gas. In this process, two major sources of hydrogen (water and hydrocarbons) are reacted to produce a mixture of carbon monoxide and hydrogen (synthesis gas). Hydrogen can then be separated from the mixture after shift converting carbon monoxide to carbon dioxide. Carbon oxides are removed by passing the mixture through a pressure swing adsorption system. Recently, a new process has been developed to manufacture hydrogen by steam reforming methanol. In this process, an active catalyst is used to decompose methanol and shift convert carbon monoxide to carbon dioxide. The produced gas is cooled, and carbon dioxide is removed: CH3OH(g) + H2O(g) r CO2(g) + 3 H2(g)</a:t>
            </a:r>
          </a:p>
        </p:txBody>
      </p:sp>
      <p:cxnSp>
        <p:nvCxnSpPr>
          <p:cNvPr id="5" name="Straight Arrow Connector 4">
            <a:extLst>
              <a:ext uri="{FF2B5EF4-FFF2-40B4-BE49-F238E27FC236}">
                <a16:creationId xmlns:a16="http://schemas.microsoft.com/office/drawing/2014/main" id="{333D4495-738E-9C9B-D560-E8F8D7D7CAF7}"/>
              </a:ext>
            </a:extLst>
          </p:cNvPr>
          <p:cNvCxnSpPr/>
          <p:nvPr/>
        </p:nvCxnSpPr>
        <p:spPr>
          <a:xfrm>
            <a:off x="11583587" y="3551565"/>
            <a:ext cx="488731"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97642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BF116B-DE27-86F1-CC0E-C74699523CFE}"/>
              </a:ext>
            </a:extLst>
          </p:cNvPr>
          <p:cNvSpPr txBox="1"/>
          <p:nvPr/>
        </p:nvSpPr>
        <p:spPr>
          <a:xfrm>
            <a:off x="0" y="0"/>
            <a:ext cx="12192000" cy="6425605"/>
          </a:xfrm>
          <a:prstGeom prst="rect">
            <a:avLst/>
          </a:prstGeom>
          <a:noFill/>
        </p:spPr>
        <p:txBody>
          <a:bodyPr wrap="square">
            <a:spAutoFit/>
          </a:bodyPr>
          <a:lstStyle/>
          <a:p>
            <a:pPr>
              <a:lnSpc>
                <a:spcPct val="200000"/>
              </a:lnSpc>
            </a:pPr>
            <a:r>
              <a:rPr lang="en-US" sz="1600" dirty="0">
                <a:latin typeface="Palatino Linotype" panose="02040502050505030304" pitchFamily="18" charset="0"/>
              </a:rPr>
              <a:t>In the petroleum refining industry, hydrogen is essentially obtained from </a:t>
            </a:r>
            <a:r>
              <a:rPr lang="en-US" sz="1600" b="1" dirty="0">
                <a:latin typeface="Palatino Linotype" panose="02040502050505030304" pitchFamily="18" charset="0"/>
              </a:rPr>
              <a:t>catalytic naphtha reforming, where it is a coproduct with reformed gasoline. </a:t>
            </a:r>
            <a:r>
              <a:rPr lang="en-US" sz="1600" dirty="0">
                <a:latin typeface="Palatino Linotype" panose="02040502050505030304" pitchFamily="18" charset="0"/>
              </a:rPr>
              <a:t>The use of hydrogen in the chemical and petroleum refining industries is of prime importance. Hydrogen is essentially a hydrogenating agent. For example, it is used with vegetable oils and fats to reduce unsaturated esters (triglycerides). It is also a reducing agent for sulfide ores such as zinc and iron sulfides (to get the metals from their ores). Hydrogen use in the petroleum refining includes many processing schemes such as hydrocracking, hydro finishing of lube oils, hydrodealkylation and hydrodesulfurization of petroleum fractions and residues. Hydrocracking of petroleum </a:t>
            </a:r>
            <a:r>
              <a:rPr lang="en-US" sz="1600" dirty="0" err="1">
                <a:latin typeface="Palatino Linotype" panose="02040502050505030304" pitchFamily="18" charset="0"/>
              </a:rPr>
              <a:t>resids</a:t>
            </a:r>
            <a:r>
              <a:rPr lang="en-US" sz="1600" dirty="0">
                <a:latin typeface="Palatino Linotype" panose="02040502050505030304" pitchFamily="18" charset="0"/>
              </a:rPr>
              <a:t> is becoming more important to produce lighter petroleum distillates of low sulfur and nitrogen content to meet stringent government-mandated product specifications to control pollution. In the petrochemical field, hydrogen is used to hydrogenate benzene to cyclohexane and benzoic acid to cyclohexane carboxylic acid. These compounds are precursors for nylon production. It is also used to selectively hydrogenate acetylene from C4 olefin mixture. As a constituent of synthesis gas, hydrogen is a precursor for ammonia, methanol, Oxo alcohols, and hydrocarbons from Fischer Tropsch processes. The direct use of hydrogen as a clean fuel for automobiles and buses is currently being evaluated compared to fuel cell vehicles that use hydrocarbon fuels which are converted through on-board reformers to a hydrogen-rich gas. Direct use of H2 provides greater efficiency and environmental benefits</a:t>
            </a:r>
            <a:endParaRPr lang="en-US" sz="1600" b="1" i="0" dirty="0">
              <a:solidFill>
                <a:srgbClr val="000000"/>
              </a:solidFill>
              <a:effectLst>
                <a:outerShdw blurRad="38100" dist="38100" dir="2700000" algn="tl">
                  <a:srgbClr val="000000">
                    <a:alpha val="43137"/>
                  </a:srgbClr>
                </a:outerShdw>
              </a:effectLst>
              <a:latin typeface="Palatino Linotype" panose="02040502050505030304" pitchFamily="18" charset="0"/>
            </a:endParaRPr>
          </a:p>
        </p:txBody>
      </p:sp>
    </p:spTree>
    <p:extLst>
      <p:ext uri="{BB962C8B-B14F-4D97-AF65-F5344CB8AC3E}">
        <p14:creationId xmlns:p14="http://schemas.microsoft.com/office/powerpoint/2010/main" val="1757112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38D589-D7BF-1D6A-FF4B-3B9EB64FDF7E}"/>
              </a:ext>
            </a:extLst>
          </p:cNvPr>
          <p:cNvSpPr>
            <a:spLocks noGrp="1"/>
          </p:cNvSpPr>
          <p:nvPr>
            <p:ph idx="1"/>
          </p:nvPr>
        </p:nvSpPr>
        <p:spPr>
          <a:xfrm>
            <a:off x="0" y="0"/>
            <a:ext cx="12192000" cy="6858000"/>
          </a:xfrm>
        </p:spPr>
        <p:txBody>
          <a:bodyPr>
            <a:noAutofit/>
          </a:bodyPr>
          <a:lstStyle/>
          <a:p>
            <a:pPr marL="0" indent="0">
              <a:lnSpc>
                <a:spcPct val="200000"/>
              </a:lnSpc>
              <a:buNone/>
            </a:pPr>
            <a:r>
              <a:rPr lang="en-US" sz="1500" b="1" dirty="0">
                <a:latin typeface="Palatino Linotype" panose="02040502050505030304" pitchFamily="18" charset="0"/>
              </a:rPr>
              <a:t>Sulfur </a:t>
            </a:r>
            <a:r>
              <a:rPr lang="en-US" sz="1500" dirty="0">
                <a:latin typeface="Palatino Linotype" panose="02040502050505030304" pitchFamily="18" charset="0"/>
              </a:rPr>
              <a:t>is a reactive, nonmetallic element naturally found in nature in a free or combined state. In its combined form, sulfur is naturally present in sulfide ores of metals such as iron, zinc, copper, and lead. It is also a constituent of natural gas and refinery gas streams in the form of hydrogen sulfide. Different processes have been developed for obtaining sulfur and sulfuric acid from these three sources. The Frasch process, developed in 1894, produces sulfur from under ground deposits. Smelting iron ores produces large amounts of sulfur dioxide, which is catalytically oxidized to sulfur trioxide for sulfuric acid production. This process is declining due to pollution control measures and the presence of some impurities in the product acid. Currently, sulfur is mainly produced by the partial oxidation of hydrogen sulfide through the Claus process. The major sources of hydrogen sulfide are natural gas and petroleum refinery streams treatment operations.</a:t>
            </a:r>
          </a:p>
          <a:p>
            <a:pPr marL="0" indent="0">
              <a:lnSpc>
                <a:spcPct val="200000"/>
              </a:lnSpc>
              <a:buNone/>
            </a:pPr>
            <a:r>
              <a:rPr lang="en-US" sz="1500" b="1" dirty="0">
                <a:latin typeface="Palatino Linotype" panose="02040502050505030304" pitchFamily="18" charset="0"/>
              </a:rPr>
              <a:t>The most important use of sulfur is for sulfuric acid production</a:t>
            </a:r>
            <a:r>
              <a:rPr lang="en-US" sz="1500" dirty="0">
                <a:latin typeface="Palatino Linotype" panose="02040502050505030304" pitchFamily="18" charset="0"/>
              </a:rPr>
              <a:t>. Other uses range from dusting powder for roses to rubber vulcanization to sulfur asphalt pavements. Flower sulfur is used in match production and in certain pharmaceuticals. Sulfur is also an additive in high pressure lubricants. Sulfur can replace 30–50% of the asphalt in the blends used for road construction. Road surfaces made from asphalt-sulfur blends have nearly double the strength of conventional pavement, and it has been claimed that such roads are more resistant to climatic conditions. The impregnation of concrete with molten sulfur is another potential large sulfur use. Concretes impregnated with sulfur have better tensile strength and corrosion resistance than conventional concretes. Sulfur is also used to pro duce phosphorous pentasulfide, a precursor for zinc </a:t>
            </a:r>
            <a:r>
              <a:rPr lang="en-US" sz="1500" dirty="0" err="1">
                <a:latin typeface="Palatino Linotype" panose="02040502050505030304" pitchFamily="18" charset="0"/>
              </a:rPr>
              <a:t>dithiophosphates</a:t>
            </a:r>
            <a:r>
              <a:rPr lang="en-US" sz="1500" dirty="0">
                <a:latin typeface="Palatino Linotype" panose="02040502050505030304" pitchFamily="18" charset="0"/>
              </a:rPr>
              <a:t> used as corrosion inhibitors. Sulfur reacts with nitrogen to form polymeric sulfur nitrides (</a:t>
            </a:r>
            <a:r>
              <a:rPr lang="en-US" sz="1500" dirty="0" err="1">
                <a:latin typeface="Palatino Linotype" panose="02040502050505030304" pitchFamily="18" charset="0"/>
              </a:rPr>
              <a:t>SNx</a:t>
            </a:r>
            <a:r>
              <a:rPr lang="en-US" sz="1500" dirty="0">
                <a:latin typeface="Palatino Linotype" panose="02040502050505030304" pitchFamily="18" charset="0"/>
              </a:rPr>
              <a:t>) or polythiazyls.</a:t>
            </a:r>
          </a:p>
        </p:txBody>
      </p:sp>
    </p:spTree>
    <p:extLst>
      <p:ext uri="{BB962C8B-B14F-4D97-AF65-F5344CB8AC3E}">
        <p14:creationId xmlns:p14="http://schemas.microsoft.com/office/powerpoint/2010/main" val="3226569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4AF14-E3EA-4E48-0E24-BDCEF82151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D7DBB2-507B-C23F-015D-D56C376B9BC9}"/>
              </a:ext>
            </a:extLst>
          </p:cNvPr>
          <p:cNvSpPr>
            <a:spLocks noGrp="1"/>
          </p:cNvSpPr>
          <p:nvPr>
            <p:ph idx="1"/>
          </p:nvPr>
        </p:nvSpPr>
        <p:spPr>
          <a:xfrm>
            <a:off x="0" y="0"/>
            <a:ext cx="12192000" cy="6858000"/>
          </a:xfrm>
        </p:spPr>
        <p:txBody>
          <a:bodyPr>
            <a:noAutofit/>
          </a:bodyPr>
          <a:lstStyle/>
          <a:p>
            <a:pPr marL="0" indent="0">
              <a:lnSpc>
                <a:spcPct val="200000"/>
              </a:lnSpc>
              <a:buNone/>
            </a:pPr>
            <a:r>
              <a:rPr lang="en-US" sz="1600" b="1" dirty="0">
                <a:latin typeface="Palatino Linotype" panose="02040502050505030304" pitchFamily="18" charset="0"/>
              </a:rPr>
              <a:t>THE CLAUS PROCESS </a:t>
            </a:r>
            <a:r>
              <a:rPr lang="en-US" sz="1600" dirty="0">
                <a:latin typeface="Palatino Linotype" panose="02040502050505030304" pitchFamily="18" charset="0"/>
              </a:rPr>
              <a:t>This process includes two main sections: the burner section with a reaction chamber that does not have a catalyst, and a Claus reactor section. In the burner section, part of the feed containing hydrogen sulfide and some hydrocarbons is burned with a limited amount of air. The two main reactions that occur in this section are the complete oxidation of part of the hydrogen sulfide (feed) to sulfur dioxide and water and the partial oxidation of another part of the hydrogen sulfide to sulfur. The two reactions are exothermic: H2S + 3/2O2 r SO2 + H2O.  3H2S + 3/2O2 r 3/x </a:t>
            </a:r>
            <a:r>
              <a:rPr lang="en-US" sz="1600" dirty="0" err="1">
                <a:latin typeface="Palatino Linotype" panose="02040502050505030304" pitchFamily="18" charset="0"/>
              </a:rPr>
              <a:t>Sx</a:t>
            </a:r>
            <a:r>
              <a:rPr lang="en-US" sz="1600" dirty="0">
                <a:latin typeface="Palatino Linotype" panose="02040502050505030304" pitchFamily="18" charset="0"/>
              </a:rPr>
              <a:t> + 3H2O ∆H = –519 to –577 KJ ∆H = –607 to –724 KJ In the second section, unconverted hydrogen sulfide reacts with the produced sulfur dioxide over a bauxite catalyst in the Claus reactor. The last reactor contains a selective oxidation catalyst of high efficiency. The reaction is slightly exothermic: 2H2S + SO2 r 3/x </a:t>
            </a:r>
            <a:r>
              <a:rPr lang="en-US" sz="1600" dirty="0" err="1">
                <a:latin typeface="Palatino Linotype" panose="02040502050505030304" pitchFamily="18" charset="0"/>
              </a:rPr>
              <a:t>Sx</a:t>
            </a:r>
            <a:r>
              <a:rPr lang="en-US" sz="1600" dirty="0">
                <a:latin typeface="Palatino Linotype" panose="02040502050505030304" pitchFamily="18" charset="0"/>
              </a:rPr>
              <a:t> + 2H2O ∆H = –88 to –146 KJ. </a:t>
            </a:r>
          </a:p>
          <a:p>
            <a:pPr marL="0" indent="0">
              <a:lnSpc>
                <a:spcPct val="200000"/>
              </a:lnSpc>
              <a:buNone/>
            </a:pPr>
            <a:r>
              <a:rPr lang="en-US" sz="1600" dirty="0">
                <a:latin typeface="Palatino Linotype" panose="02040502050505030304" pitchFamily="18" charset="0"/>
              </a:rPr>
              <a:t>Carbon black is an extremely fine powder of great commercial importance, especially for the synthetic rubber industry. The addition of carbon black to tires lengthens its life extensively by increasing the abrasion and oil resistance of rubber. Carbon black consists of elemental carbon with variable amounts of volatile matter and ash. There are several types of carbon blacks, and their characteristics depend on the particle size, which is mainly a function of the production method. Carbon black is produced by the partial combustion or the thermal decomposition of natural gas or petroleum distillates and residues. </a:t>
            </a:r>
          </a:p>
        </p:txBody>
      </p:sp>
    </p:spTree>
    <p:extLst>
      <p:ext uri="{BB962C8B-B14F-4D97-AF65-F5344CB8AC3E}">
        <p14:creationId xmlns:p14="http://schemas.microsoft.com/office/powerpoint/2010/main" val="3335483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9988FD-973F-66C7-CEE4-73ACAFC0BB67}"/>
              </a:ext>
            </a:extLst>
          </p:cNvPr>
          <p:cNvSpPr>
            <a:spLocks noGrp="1"/>
          </p:cNvSpPr>
          <p:nvPr>
            <p:ph idx="1"/>
          </p:nvPr>
        </p:nvSpPr>
        <p:spPr>
          <a:xfrm>
            <a:off x="1" y="0"/>
            <a:ext cx="12191999" cy="6076335"/>
          </a:xfrm>
        </p:spPr>
        <p:txBody>
          <a:bodyPr>
            <a:noAutofit/>
          </a:bodyPr>
          <a:lstStyle/>
          <a:p>
            <a:pPr marL="0" indent="0">
              <a:lnSpc>
                <a:spcPct val="200000"/>
              </a:lnSpc>
              <a:buNone/>
            </a:pPr>
            <a:r>
              <a:rPr lang="en-US" sz="1800" dirty="0">
                <a:latin typeface="Palatino Linotype" panose="02040502050505030304" pitchFamily="18" charset="0"/>
              </a:rPr>
              <a:t>Petroleum products rich in aromatics such as tars produced from catalytic and thermal cracking units are more suitable feedstocks due to their high carbon/hydrogen ratios. These feeds produce blacks with a carbon content of approximately 92 </a:t>
            </a:r>
            <a:r>
              <a:rPr lang="en-US" sz="1800" dirty="0" err="1">
                <a:latin typeface="Palatino Linotype" panose="02040502050505030304" pitchFamily="18" charset="0"/>
              </a:rPr>
              <a:t>wt</a:t>
            </a:r>
            <a:r>
              <a:rPr lang="en-US" sz="1800" dirty="0">
                <a:latin typeface="Palatino Linotype" panose="02040502050505030304" pitchFamily="18" charset="0"/>
              </a:rPr>
              <a:t>%. Coke produced from delayed and fluid coking units with low sulfur and ash contents has been investigated as a possible substitute for carbon black. Three processes are currently used for the manufacture of carbon blacks. These are the channel, the furnace, and the thermal processes.</a:t>
            </a:r>
          </a:p>
          <a:p>
            <a:pPr marL="0" indent="0">
              <a:lnSpc>
                <a:spcPct val="200000"/>
              </a:lnSpc>
              <a:buNone/>
            </a:pPr>
            <a:r>
              <a:rPr lang="en-US" sz="1800" dirty="0">
                <a:latin typeface="Palatino Linotype" panose="02040502050505030304" pitchFamily="18" charset="0"/>
              </a:rPr>
              <a:t>THE CHANNELPROCESS This process is only of historical interest, because not more than 5% of the blacks are produced via this route. In this process, the feed (e.g., natural gas) is burned in small burners with a limited amount of air. Some methane is completely combusted to carbon dioxide and water, producing enough heat for the thermal decomposition of the remaining natural gas. The two main reactions could be represented as: CH4 + 2O2 r CO2 + 2H2O CH4 </a:t>
            </a:r>
            <a:r>
              <a:rPr lang="en-US" sz="1800" dirty="0" err="1">
                <a:latin typeface="Palatino Linotype" panose="02040502050505030304" pitchFamily="18" charset="0"/>
              </a:rPr>
              <a:t>rC</a:t>
            </a:r>
            <a:r>
              <a:rPr lang="en-US" sz="1800" dirty="0">
                <a:latin typeface="Palatino Linotype" panose="02040502050505030304" pitchFamily="18" charset="0"/>
              </a:rPr>
              <a:t> + H2 ∆H = –799 KJ ∆H = +92KJ The formed soot collects on cooled iron channels from which the carbon black is scraped. Channel black is characterized by having a lower pH, higher volatile matter, and smaller average particle size than blacks from other processes. </a:t>
            </a:r>
          </a:p>
        </p:txBody>
      </p:sp>
    </p:spTree>
    <p:extLst>
      <p:ext uri="{BB962C8B-B14F-4D97-AF65-F5344CB8AC3E}">
        <p14:creationId xmlns:p14="http://schemas.microsoft.com/office/powerpoint/2010/main" val="1411808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90BF70-212E-916B-4CAB-2BD5E5A25523}"/>
              </a:ext>
            </a:extLst>
          </p:cNvPr>
          <p:cNvSpPr>
            <a:spLocks noGrp="1"/>
          </p:cNvSpPr>
          <p:nvPr>
            <p:ph idx="1"/>
          </p:nvPr>
        </p:nvSpPr>
        <p:spPr>
          <a:xfrm>
            <a:off x="0" y="0"/>
            <a:ext cx="12192000" cy="6858000"/>
          </a:xfrm>
        </p:spPr>
        <p:txBody>
          <a:bodyPr>
            <a:noAutofit/>
          </a:bodyPr>
          <a:lstStyle/>
          <a:p>
            <a:pPr marL="0" indent="0">
              <a:lnSpc>
                <a:spcPct val="200000"/>
              </a:lnSpc>
              <a:buNone/>
            </a:pPr>
            <a:r>
              <a:rPr lang="en-US" sz="1800" b="1" dirty="0">
                <a:latin typeface="Palatino Linotype" panose="02040502050505030304" pitchFamily="18" charset="0"/>
              </a:rPr>
              <a:t>THE FURNACE BLACK PROCESS </a:t>
            </a:r>
            <a:r>
              <a:rPr lang="en-US" sz="1800" dirty="0">
                <a:latin typeface="Palatino Linotype" panose="02040502050505030304" pitchFamily="18" charset="0"/>
              </a:rPr>
              <a:t>is a more advanced partial combustion process. The feed is first preheated and then combusted in the reactor with a limited amount of air. The hot gases containing carbon particles from the reactor are quenched with a water spray and then further cooled by heat exchange with the air used for the partial combustion. The type of black produced depends on the feed type and the furnace temperature. The average particle diameter of the blacks from the oil furnace process ranges between 200–500 Å, while it ranges between 400–700 Å from the gas furnace process. </a:t>
            </a:r>
            <a:r>
              <a:rPr lang="en-US" sz="1800" b="1">
                <a:latin typeface="Palatino Linotype" panose="02040502050505030304" pitchFamily="18" charset="0"/>
              </a:rPr>
              <a:t>THE THERMALPROCESS: </a:t>
            </a:r>
            <a:r>
              <a:rPr lang="en-US" sz="1800" dirty="0">
                <a:latin typeface="Palatino Linotype" panose="02040502050505030304" pitchFamily="18" charset="0"/>
              </a:rPr>
              <a:t>In this process, the feed (natural gas) is pyrolyzed in preheated fur </a:t>
            </a:r>
            <a:r>
              <a:rPr lang="en-US" sz="1800" dirty="0" err="1">
                <a:latin typeface="Palatino Linotype" panose="02040502050505030304" pitchFamily="18" charset="0"/>
              </a:rPr>
              <a:t>naces</a:t>
            </a:r>
            <a:r>
              <a:rPr lang="en-US" sz="1800" dirty="0">
                <a:latin typeface="Palatino Linotype" panose="02040502050505030304" pitchFamily="18" charset="0"/>
              </a:rPr>
              <a:t> lined with a checker work of hot bricks. The pyrolysis reaction pro duces carbon, which collects on the bricks. The cooled bricks are then reheated after carbon black is collected. The average particle diameter from this process is large and ranges between 1800 Å for the fine thermal and 5000 Å for medium thermal black. PROPERTIES AND USES OF CARBON BLACK The important properties of carbon black are particle size, surface area, and </a:t>
            </a:r>
            <a:r>
              <a:rPr lang="en-US" sz="1800" dirty="0" err="1">
                <a:latin typeface="Palatino Linotype" panose="02040502050505030304" pitchFamily="18" charset="0"/>
              </a:rPr>
              <a:t>pH.</a:t>
            </a:r>
            <a:r>
              <a:rPr lang="en-US" sz="1800" dirty="0">
                <a:latin typeface="Palatino Linotype" panose="02040502050505030304" pitchFamily="18" charset="0"/>
              </a:rPr>
              <a:t> These properties are functions of the production process and the feed properties. Channel blacks are generally acidic, while those produced by the Furnace and Thermal processes are slightly alkaline. </a:t>
            </a:r>
          </a:p>
        </p:txBody>
      </p:sp>
    </p:spTree>
    <p:extLst>
      <p:ext uri="{BB962C8B-B14F-4D97-AF65-F5344CB8AC3E}">
        <p14:creationId xmlns:p14="http://schemas.microsoft.com/office/powerpoint/2010/main" val="2018463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91BDC3-4306-6B18-49CD-83CB3B0F2219}"/>
              </a:ext>
            </a:extLst>
          </p:cNvPr>
          <p:cNvSpPr txBox="1"/>
          <p:nvPr/>
        </p:nvSpPr>
        <p:spPr>
          <a:xfrm>
            <a:off x="0" y="1"/>
            <a:ext cx="12339484" cy="5555175"/>
          </a:xfrm>
          <a:prstGeom prst="rect">
            <a:avLst/>
          </a:prstGeom>
          <a:noFill/>
        </p:spPr>
        <p:txBody>
          <a:bodyPr wrap="square">
            <a:spAutoFit/>
          </a:bodyPr>
          <a:lstStyle/>
          <a:p>
            <a:pPr>
              <a:lnSpc>
                <a:spcPct val="200000"/>
              </a:lnSpc>
            </a:pPr>
            <a:r>
              <a:rPr lang="en-US" dirty="0">
                <a:latin typeface="Palatino Linotype" panose="02040502050505030304" pitchFamily="18" charset="0"/>
              </a:rPr>
              <a:t>The pH of the black has a pronounced influence on the vulcanization time of the rubber. (Vulcanization is a physicochemical reaction by which rubber changes to a thermosetting mass due to cross-linking of the polymer chains by adding certain agents such as sulfur.) The basic nature (higher pH) of furnace blacks is due to the presence of evaporation deposits from the water quench. Thermal blacks, due to their larger aver age particle size, are not suitable for tire bodies and tread bases, but they are used in inner tubes, footwear, and paint pigment. Gas and oil furnace blacks are the most important forms of carbon blacks and are generally used in tire treads and tire bodies. Carbon black is also used as a pigment for paints and printing inks, as a nucleation agent in weather modifications, and as a solar energy absorber. About 70% of the worlds’ consumption of carbon black is used in the production of tires and tire products. Approximately 20% goes into other products such as footwear, belts, hoses, etc. and the rest is used in such items as paints, printing ink, etc.</a:t>
            </a:r>
          </a:p>
        </p:txBody>
      </p:sp>
    </p:spTree>
    <p:extLst>
      <p:ext uri="{BB962C8B-B14F-4D97-AF65-F5344CB8AC3E}">
        <p14:creationId xmlns:p14="http://schemas.microsoft.com/office/powerpoint/2010/main" val="3665865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F322AC-1E9B-AABC-DF14-8A8E68D1165A}"/>
              </a:ext>
            </a:extLst>
          </p:cNvPr>
          <p:cNvSpPr txBox="1"/>
          <p:nvPr/>
        </p:nvSpPr>
        <p:spPr>
          <a:xfrm>
            <a:off x="0" y="1"/>
            <a:ext cx="12295239" cy="8179932"/>
          </a:xfrm>
          <a:prstGeom prst="rect">
            <a:avLst/>
          </a:prstGeom>
          <a:noFill/>
        </p:spPr>
        <p:txBody>
          <a:bodyPr wrap="square">
            <a:spAutoFit/>
          </a:bodyPr>
          <a:lstStyle/>
          <a:p>
            <a:pPr>
              <a:lnSpc>
                <a:spcPct val="150000"/>
              </a:lnSpc>
            </a:pPr>
            <a:r>
              <a:rPr lang="en-US" sz="1600" b="1" dirty="0">
                <a:latin typeface="Palatino Linotype" panose="02040502050505030304" pitchFamily="18" charset="0"/>
              </a:rPr>
              <a:t>Synthesis gas </a:t>
            </a:r>
            <a:r>
              <a:rPr lang="en-US" sz="1600" dirty="0">
                <a:latin typeface="Palatino Linotype" panose="02040502050505030304" pitchFamily="18" charset="0"/>
              </a:rPr>
              <a:t>generally refers to a mixture of carbon monoxide and hydrogen. The ratio of hydrogen to carbon monoxide varies according to the type of feed, the method of production, and the end use of the gas. There are different sources for obtaining synthesis gas. It can be produced by steam reforming or partial oxidation of any hydrocarbon ranging from natural gas (methane) to heavy petroleum residues. It can also be obtained by gasifying coal to a medium Btu gas (medium Btu gas con sists of variable amounts of CO, CO2, and H2 and is used principally as a fuel gas). A major route for producing synthesis gas is the steam reforming of natural gas over a promoted nickel catalyst at about 800°C: CH4(g) + H2O(g) r CO(g) + 3H2(g) This route is used when natural gas is abundant and inexpensive, as it is in Saudi Arabia and the USA. In Europe, synthesis gas is mainly produced by steam reforming naphtha. Because naphtha is a mixture of hydrocarbons ranging approximately from C5-C10, the steam reforming reaction may be represented using n-heptane: CH3(CH2)5CH3 + 7H2O(g) r 7CO(g) + 15H2(g) As the molecular weight of the hydrocarbon increases (lower H/C feed ratio), the H2/CO product ratio decreases. The H2/CO product ratio is approximately 3 for methane, 2.5 for ethane, 2.1 for heptane, and less than 2 for heavier hydrocarbons. Noncatalytic partial oxidation of hydro carbons is also used to produce synthesis gas, but the H2/CO ratio is lower than from steam reforming.</a:t>
            </a:r>
          </a:p>
          <a:p>
            <a:pPr>
              <a:lnSpc>
                <a:spcPct val="150000"/>
              </a:lnSpc>
            </a:pPr>
            <a:r>
              <a:rPr lang="en-US" sz="1600" dirty="0">
                <a:latin typeface="Palatino Linotype" panose="02040502050505030304" pitchFamily="18" charset="0"/>
              </a:rPr>
              <a:t>CH4(g) + 1/2O2 (g) r CO (g) + 2H2 (g) In practice, this ratio is even lower than what is shown by the stoichiometric equation because part of the methane is oxidized to carbon dioxide and water. When </a:t>
            </a:r>
            <a:r>
              <a:rPr lang="en-US" sz="1600" dirty="0" err="1">
                <a:latin typeface="Palatino Linotype" panose="02040502050505030304" pitchFamily="18" charset="0"/>
              </a:rPr>
              <a:t>resids</a:t>
            </a:r>
            <a:r>
              <a:rPr lang="en-US" sz="1600" dirty="0">
                <a:latin typeface="Palatino Linotype" panose="02040502050505030304" pitchFamily="18" charset="0"/>
              </a:rPr>
              <a:t> are partially oxidized by oxygen and steam at 1400–1450°C and 55–60 atmospheres, the gas consists of equal parts of hydrogen and carbon monoxide.</a:t>
            </a:r>
          </a:p>
          <a:p>
            <a:pPr>
              <a:lnSpc>
                <a:spcPct val="150000"/>
              </a:lnSpc>
            </a:pPr>
            <a:r>
              <a:rPr lang="en-US" sz="1600" dirty="0">
                <a:latin typeface="Palatino Linotype" panose="02040502050505030304" pitchFamily="18" charset="0"/>
              </a:rPr>
              <a:t>USES OF SYNTHESIS GAS Synthesis gas is an important intermediate. The mixture of carbon monoxide and hydrogen is used for producing methanol. It is also used to synthesize a wide variety of hydrocarbons ranging from gases to naphtha to gas oil using Fischer </a:t>
            </a:r>
            <a:r>
              <a:rPr lang="en-US" sz="1600" dirty="0" err="1">
                <a:latin typeface="Palatino Linotype" panose="02040502050505030304" pitchFamily="18" charset="0"/>
              </a:rPr>
              <a:t>Tropsch</a:t>
            </a:r>
            <a:r>
              <a:rPr lang="en-US" sz="1600" dirty="0">
                <a:latin typeface="Palatino Linotype" panose="02040502050505030304" pitchFamily="18" charset="0"/>
              </a:rPr>
              <a:t> technology. This process may offer an alternative future route for obtaining olefins and chemicals. The hydroformylation reaction (Oxo synthesis) is based on the reaction of synthesis gas with olefins for the production of Oxo aldehydes and alcohols. Synthesis gas is a major source of hydrogen, which is used for producing ammonia. Ammonia is the host of many chemicals such as urea, ammonium nitrate, and hydrazine. Carbon dioxide, a by-product from synthesis gas, reacts with ammonia to produce urea. </a:t>
            </a:r>
          </a:p>
        </p:txBody>
      </p:sp>
    </p:spTree>
    <p:extLst>
      <p:ext uri="{BB962C8B-B14F-4D97-AF65-F5344CB8AC3E}">
        <p14:creationId xmlns:p14="http://schemas.microsoft.com/office/powerpoint/2010/main" val="1963978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592991-C404-5538-DB88-F61042A61FC5}"/>
              </a:ext>
            </a:extLst>
          </p:cNvPr>
          <p:cNvSpPr txBox="1"/>
          <p:nvPr/>
        </p:nvSpPr>
        <p:spPr>
          <a:xfrm>
            <a:off x="-101600" y="1"/>
            <a:ext cx="12293600" cy="6723315"/>
          </a:xfrm>
          <a:prstGeom prst="rect">
            <a:avLst/>
          </a:prstGeom>
          <a:noFill/>
        </p:spPr>
        <p:txBody>
          <a:bodyPr wrap="square">
            <a:spAutoFit/>
          </a:bodyPr>
          <a:lstStyle/>
          <a:p>
            <a:pPr>
              <a:lnSpc>
                <a:spcPct val="150000"/>
              </a:lnSpc>
            </a:pPr>
            <a:r>
              <a:rPr lang="en-US" sz="1700" dirty="0">
                <a:latin typeface="Palatino Linotype" panose="02040502050505030304" pitchFamily="18" charset="0"/>
              </a:rPr>
              <a:t>Naphthenic acids are a mixture of cyclo-paraffins with alkyl side chains ending with a carboxylic group. The low-molecular-weight naphthenic acids (8–12 carbons) are compounds having either a cyclopentane or a cyclohexane ring with a carboxyalkyl side chain. These compounds are normally found in middle distillates such as kerosine and gas oil. High boiling </a:t>
            </a:r>
            <a:r>
              <a:rPr lang="en-US" sz="1700" dirty="0" err="1">
                <a:latin typeface="Palatino Linotype" panose="02040502050505030304" pitchFamily="18" charset="0"/>
              </a:rPr>
              <a:t>napthenic</a:t>
            </a:r>
            <a:r>
              <a:rPr lang="en-US" sz="1700" dirty="0">
                <a:latin typeface="Palatino Linotype" panose="02040502050505030304" pitchFamily="18" charset="0"/>
              </a:rPr>
              <a:t> acids from the lube oils are monocarboxylic acids, (C14-C19) with an average of 2.6 rings. Naphthenic acids constitute about 50 </a:t>
            </a:r>
            <a:r>
              <a:rPr lang="en-US" sz="1700" dirty="0" err="1">
                <a:latin typeface="Palatino Linotype" panose="02040502050505030304" pitchFamily="18" charset="0"/>
              </a:rPr>
              <a:t>wt</a:t>
            </a:r>
            <a:r>
              <a:rPr lang="en-US" sz="1700" dirty="0">
                <a:latin typeface="Palatino Linotype" panose="02040502050505030304" pitchFamily="18" charset="0"/>
              </a:rPr>
              <a:t>% of the total acidic com pounds in crude oils. Naphthenic-based crudes contain a higher percent age of naphthenic acids. Consequently, it is more economical to isolate these acids from naphthenic-based crudes. The production of naphthenic acids from middle distillates occurs by extraction with 7–10% caustic solution. The formed sodium salts, which are soluble in the lower aqueous layer, are separated from the hydrocarbon layer and treated with a mineral acid to spring out the acids. The free acids are then dried and distilled. Using strong caustic solutions for the extraction may create separation problems because naphthenic acid salts are emulsifying agents. </a:t>
            </a:r>
          </a:p>
          <a:p>
            <a:pPr>
              <a:lnSpc>
                <a:spcPct val="150000"/>
              </a:lnSpc>
            </a:pPr>
            <a:r>
              <a:rPr lang="en-US" sz="1700" dirty="0">
                <a:latin typeface="Palatino Linotype" panose="02040502050505030304" pitchFamily="18" charset="0"/>
              </a:rPr>
              <a:t>USES OF NAPHTHENIC ACIDS AND ITS SALTS: Free naphthenic acids are corrosive and are mainly used as their salts and esters. The sodium salts are emulsifying agents for preparing agricultural insecticides, additives for cutting oils, and emulsion breakers in the oil industry. Other metal salts of naphthenic acids have many varied uses. For example, calcium naphthenate is a lubricating oil additive, and zinc naphthenate is an antioxidant. Lead, zinc, and barium naphthenates are wetting agents used as dispersion agents for paints. Some oil soluble metal naphthenates, such as those of zinc, cobalt, and lead, are used as driers in oil-based paints. Among the diversified uses of naphthenates is the use of aluminum naphthenates as gelling agents for gasoline flame throw </a:t>
            </a:r>
            <a:r>
              <a:rPr lang="en-US" sz="1700" dirty="0" err="1">
                <a:latin typeface="Palatino Linotype" panose="02040502050505030304" pitchFamily="18" charset="0"/>
              </a:rPr>
              <a:t>ers</a:t>
            </a:r>
            <a:r>
              <a:rPr lang="en-US" sz="1700" dirty="0">
                <a:latin typeface="Palatino Linotype" panose="02040502050505030304" pitchFamily="18" charset="0"/>
              </a:rPr>
              <a:t> (napalm). Manganese naphthenates are well-known oxidation catalysts.</a:t>
            </a:r>
          </a:p>
        </p:txBody>
      </p:sp>
    </p:spTree>
    <p:extLst>
      <p:ext uri="{BB962C8B-B14F-4D97-AF65-F5344CB8AC3E}">
        <p14:creationId xmlns:p14="http://schemas.microsoft.com/office/powerpoint/2010/main" val="3766332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22E5CD-F230-6011-5DFA-4C76663F7F20}"/>
              </a:ext>
            </a:extLst>
          </p:cNvPr>
          <p:cNvSpPr txBox="1"/>
          <p:nvPr/>
        </p:nvSpPr>
        <p:spPr>
          <a:xfrm>
            <a:off x="0" y="147643"/>
            <a:ext cx="12192000" cy="5585183"/>
          </a:xfrm>
          <a:prstGeom prst="rect">
            <a:avLst/>
          </a:prstGeom>
          <a:noFill/>
        </p:spPr>
        <p:txBody>
          <a:bodyPr wrap="square">
            <a:spAutoFit/>
          </a:bodyPr>
          <a:lstStyle/>
          <a:p>
            <a:pPr>
              <a:lnSpc>
                <a:spcPct val="150000"/>
              </a:lnSpc>
            </a:pPr>
            <a:r>
              <a:rPr lang="en-US" sz="2000" dirty="0">
                <a:latin typeface="Palatino Linotype" panose="02040502050505030304" pitchFamily="18" charset="0"/>
              </a:rPr>
              <a:t>Free cresylic acid is obtained by treating the solution with a weak acid or dilute sulfuric acid. Refinery flue gases containing CO2 are sometimes used to release cresylic acid. Aqueous streams with low cresylic acid concentrations are separated by adsorption by passing them through one or more beds containing a high adsorbent resin. The resin is regenerated with 1% sodium hydroxide solution. It should be noted that the extraction of cresylic acid does not create an isolation problem with naphthenic acids which are principally present in heavier fractions. Naphthenic acids, which are relatively stronger acids (lower </a:t>
            </a:r>
            <a:r>
              <a:rPr lang="en-US" sz="2000" dirty="0" err="1">
                <a:latin typeface="Palatino Linotype" panose="02040502050505030304" pitchFamily="18" charset="0"/>
              </a:rPr>
              <a:t>pKa</a:t>
            </a:r>
            <a:r>
              <a:rPr lang="en-US" sz="2000" dirty="0">
                <a:latin typeface="Palatino Linotype" panose="02040502050505030304" pitchFamily="18" charset="0"/>
              </a:rPr>
              <a:t> value), are extracted with less concentrated caustic solution. </a:t>
            </a:r>
          </a:p>
          <a:p>
            <a:pPr>
              <a:lnSpc>
                <a:spcPct val="150000"/>
              </a:lnSpc>
            </a:pPr>
            <a:r>
              <a:rPr lang="en-US" sz="2000" dirty="0">
                <a:latin typeface="Palatino Linotype" panose="02040502050505030304" pitchFamily="18" charset="0"/>
              </a:rPr>
              <a:t>Uses of Cresylic Acid Cresylic acid is mainly used as degreasing agent and as a disinfectant of a stabilized emulsion in a soap solution. Cresols are used as flotation agents and as wire enamel solvents. Tricresyl phosphates are produced from a mixture of cresols and phosphorous oxychloride. The esters are plasticizers for vinyl chloride polymers. They are also gasoline additives for reducing carbon deposits in the combustion chamber.</a:t>
            </a:r>
          </a:p>
        </p:txBody>
      </p:sp>
    </p:spTree>
    <p:extLst>
      <p:ext uri="{BB962C8B-B14F-4D97-AF65-F5344CB8AC3E}">
        <p14:creationId xmlns:p14="http://schemas.microsoft.com/office/powerpoint/2010/main" val="6716033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628</TotalTime>
  <Words>3856</Words>
  <Application>Microsoft Office PowerPoint</Application>
  <PresentationFormat>Widescreen</PresentationFormat>
  <Paragraphs>28</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Extraction and uses of non-hydrocarbon intermediates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Extraction and uses of non-hydrocarbon intermediates</dc:title>
  <dc:creator>Akeem Akinfenwa</dc:creator>
  <cp:lastModifiedBy>Akeem Akinfenwa</cp:lastModifiedBy>
  <cp:revision>11</cp:revision>
  <dcterms:created xsi:type="dcterms:W3CDTF">2026-04-11T16:41:59Z</dcterms:created>
  <dcterms:modified xsi:type="dcterms:W3CDTF">2026-04-25T16:08:01Z</dcterms:modified>
</cp:coreProperties>
</file>